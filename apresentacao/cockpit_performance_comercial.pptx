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c123c35e-08bf-2869-f506-e74b6c0ae7b0}">
          <p14:sldIdLst>
            <p14:sldId id="256"/>
          </p14:sldIdLst>
        </p14:section>
        <p14:section name="Indicadores" id="{8fb43ece-d606-8f13-ee52-2947d1262da2}">
          <p14:sldIdLst>
            <p14:sldId id="257"/>
          </p14:sldIdLst>
        </p14:section>
        <p14:section name="Análises" id="{031fcb10-d184-2179-76e3-64d9c3ddf6e9}">
          <p14:sldIdLst>
            <p14:sldId id="258"/>
          </p14:sldIdLst>
        </p14:section>
        <p14:section name="Decisões" id="{a148db68-6356-5653-91b6-747ae565e9c4}">
          <p14:sldIdLst>
            <p14:sldId id="259"/>
          </p14:sldIdLst>
        </p14:section>
        <p14:section name="Validação" id="{77797742-1ae2-7365-e37d-c75ad9724db2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do projeto: uma empresa fictícia que vende sistemas de geração distribuída por parceiros. O objetivo do cockpit é responder às quatro perguntas de gestão do slide, com uma base inteiramente simulada.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indicadores estão em três grupos. Verde é o que aconteceu, âmbar é previsão, e o painel nunca soma os dois. O pipeline ponderado é uma segunda opinião sobre o forecast declarado: quando o lastro é baixo, parte do número prometido ainda não está no funil.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da visão padrão. Resultado perto da meta, mas o forecast é sistematicamente otimista. Ingá e Manacá caíram cerca de 34% nos últimos três meses, por motivos diferentes: em Ingá caiu a criação de oportunidades, em Manacá não. Todos os números são da base fictícia.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pergunta tem um sinal específico no painel e uma ação sugerida nas conclusões. Os exemplos vêm da visão padrão da base fictícia. Nenhum ganho de resultado é afirmado: o projeto não mede efeito de 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credibilidade vem da validação: o mesmo motor que desenha a tela roda no Node e é comparado com um recálculo independente em pandas, e um teste de navegador confere o que aparece na tela. As limitações estão documentadas no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5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AD"/>
                </a:solidFill>
              </a:rPr>
              <a:t>Projeto demonstrativo com dados 100% fictícios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6C"/>
                </a:solidFill>
              </a:rPr>
              <a:t>Projeto demonstrativo com dados 100% fictícios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65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Cockpit de performance comercial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D2"/>
                </a:solidFill>
              </a:rPr>
              <a:t>Vellora Energia, empresa fictícia de geração distribuída solar que vende por 20 parceiros comerciais.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Perguntas que a gestão responde todo mês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EEA"/>
                </a:solidFill>
              </a:rPr>
              <a:t>Estamos na meta? Quem puxa o resultado para baixo?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EEA"/>
                </a:solidFill>
              </a:rPr>
              <a:t>O forecast dos parceiros é confiável e tem lastro?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EEA"/>
                </a:solidFill>
              </a:rPr>
              <a:t>Em que etapa do funil as oportunidades se perdem?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5EEEA"/>
                </a:solidFill>
              </a:rPr>
              <a:t>Que oportunidades exigem ação esta semana?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AD3C"/>
                </a:solidFill>
              </a:rPr>
              <a:t>Base sintética: 24 meses fechados, 3 meses projetados e cerca de 24 mil oportunidades. Nenhum dado real.</a:t>
            </a:r>
            <a:endParaRPr lang="en-US" sz="1100" dirty="0"/>
          </a:p>
        </p:txBody>
      </p:sp>
      <p:pic>
        <p:nvPicPr>
          <p:cNvPr id="7" name="Captura visão geral" descr="/home/claude/cockpit/screenshots/01_visao_g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77240"/>
            <a:ext cx="4023360" cy="201447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475488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AD"/>
                </a:solidFill>
              </a:rPr>
              <a:t>Visão geral do painel: resultado do período e projeção separados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B"/>
                </a:solidFill>
              </a:rPr>
              <a:t>Realizado e previsão nunca se misturam</a:t>
            </a:r>
            <a:endParaRPr lang="en-US" sz="2600" dirty="0"/>
          </a:p>
        </p:txBody>
      </p:sp>
      <p:sp>
        <p:nvSpPr>
          <p:cNvPr id="3" name="Bloco Resultado (meses fechados)"/>
          <p:cNvSpPr/>
          <p:nvPr/>
        </p:nvSpPr>
        <p:spPr>
          <a:xfrm>
            <a:off x="457200" y="1051560"/>
            <a:ext cx="2624328" cy="3246120"/>
          </a:xfrm>
          <a:prstGeom prst="roundRect">
            <a:avLst>
              <a:gd name="adj" fmla="val 2787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43584"/>
            <a:ext cx="201168" cy="201168"/>
          </a:xfrm>
          <a:prstGeom prst="ellipse">
            <a:avLst/>
          </a:prstGeom>
          <a:solidFill>
            <a:srgbClr val="1D6B54"/>
          </a:solidFill>
          <a:ln w="12700">
            <a:solidFill>
              <a:srgbClr val="1D6B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188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6B54"/>
                </a:solidFill>
              </a:rPr>
              <a:t>Resultado (meses fechados)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64208"/>
            <a:ext cx="22677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Realizado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Σ kWp de contratos assinados no período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Atingimento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Realizado ÷ meta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Gap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Meta − realizado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Viés do forecast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(forecast registrado − realizado) ÷ realizado</a:t>
            </a:r>
            <a:endParaRPr lang="en-US" sz="1300" dirty="0"/>
          </a:p>
        </p:txBody>
      </p:sp>
      <p:sp>
        <p:nvSpPr>
          <p:cNvPr id="7" name="Bloco Projeção (meses futuros)"/>
          <p:cNvSpPr/>
          <p:nvPr/>
        </p:nvSpPr>
        <p:spPr>
          <a:xfrm>
            <a:off x="3264408" y="1051560"/>
            <a:ext cx="2624328" cy="3246120"/>
          </a:xfrm>
          <a:prstGeom prst="roundRect">
            <a:avLst>
              <a:gd name="adj" fmla="val 2787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65576" y="1243584"/>
            <a:ext cx="201168" cy="201168"/>
          </a:xfrm>
          <a:prstGeom prst="ellipse">
            <a:avLst/>
          </a:prstGeom>
          <a:solidFill>
            <a:srgbClr val="B97C00"/>
          </a:solidFill>
          <a:ln w="12700">
            <a:solidFill>
              <a:srgbClr val="B97C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67328" y="1188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C00"/>
                </a:solidFill>
              </a:rPr>
              <a:t>Projeção (meses futuros)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1664208"/>
            <a:ext cx="22677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Forecast declarado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previsão dos parceiros, out a dez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Cobertura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forecast ÷ meta do trimestre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Pipeline ponderado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kWp aberto × probabilidade da etapa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Lastro M+1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pipeline ponderado ÷ forecast do mês</a:t>
            </a:r>
            <a:endParaRPr lang="en-US" sz="1300" dirty="0"/>
          </a:p>
        </p:txBody>
      </p:sp>
      <p:sp>
        <p:nvSpPr>
          <p:cNvPr id="11" name="Bloco Funil e risco (data de corte)"/>
          <p:cNvSpPr/>
          <p:nvPr/>
        </p:nvSpPr>
        <p:spPr>
          <a:xfrm>
            <a:off x="6071616" y="1051560"/>
            <a:ext cx="2624328" cy="3246120"/>
          </a:xfrm>
          <a:prstGeom prst="roundRect">
            <a:avLst>
              <a:gd name="adj" fmla="val 2787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243584"/>
            <a:ext cx="201168" cy="201168"/>
          </a:xfrm>
          <a:prstGeom prst="ellipse">
            <a:avLst/>
          </a:prstGeom>
          <a:solidFill>
            <a:srgbClr val="15242B"/>
          </a:solidFill>
          <a:ln w="12700">
            <a:solidFill>
              <a:srgbClr val="1524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74536" y="1188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Funil e risco (data de corte)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1664208"/>
            <a:ext cx="22677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Conversão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atingiram a etapa seguinte ÷ atingiram a etapa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Parada acima do prazo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dias na etapa &gt; prazo da etapa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Previsão vencida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data prevista ≤ data de corte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242B"/>
                </a:solidFill>
              </a:rPr>
              <a:t>Pendência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6676C"/>
                </a:solidFill>
              </a:rPr>
              <a:t>documento, crédito, vistoria ou parecer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76C"/>
                </a:solidFill>
              </a:rPr>
              <a:t>Cada indicador tem fórmula documentada. Alertas por parceiro usam limiares fixos: atingimento &lt; 80%, queda ≥ 25%, viés &gt; 25%, lastro &lt; 60%, pipeline em risco ≥ 40%.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B"/>
                </a:solidFill>
              </a:rPr>
              <a:t>O que a base fictícia mostra de out/25 a set/26</a:t>
            </a:r>
            <a:endParaRPr lang="en-US" sz="2600" dirty="0"/>
          </a:p>
        </p:txBody>
      </p:sp>
      <p:pic>
        <p:nvPicPr>
          <p:cNvPr id="3" name="Gráfico mensal" descr="/home/claude/cockpit/screenshots/02_meta_realizado_previ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198667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129677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76C"/>
                </a:solidFill>
              </a:rPr>
              <a:t>Meta, realizado e previsão por mês. Barras sólidas: realizado; hachuradas: forecast dos meses futuros.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051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D6B54"/>
                </a:solidFill>
              </a:rPr>
              <a:t>97,8%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10515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42B"/>
                </a:solidFill>
              </a:rPr>
              <a:t>da meta atingida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6676C"/>
                </a:solidFill>
              </a:rPr>
              <a:t>36.454 de 37.275 kWp; 3 parceiros concentram 48% dos gaps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920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97C00"/>
                </a:solidFill>
              </a:rPr>
              <a:t>+12,2%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920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42B"/>
                </a:solidFill>
              </a:rPr>
              <a:t>viés do forecast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6676C"/>
                </a:solidFill>
              </a:rPr>
              <a:t>parceiros prometem mais do que entregam; 4 acima de +25%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788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97C00"/>
                </a:solidFill>
              </a:rPr>
              <a:t>89,3%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788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42B"/>
                </a:solidFill>
              </a:rPr>
              <a:t>de lastro para out/26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6676C"/>
                </a:solidFill>
              </a:rPr>
              <a:t>pipeline ponderado ÷ forecast; abaixo de 60% em 3 parceiros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657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23B26"/>
                </a:solidFill>
              </a:rPr>
              <a:t>50%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3657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42B"/>
                </a:solidFill>
              </a:rPr>
              <a:t>do pipeline do Oiti em risco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6676C"/>
                </a:solidFill>
              </a:rPr>
              <a:t>pendência de parecer de acesso; conversão final 22,7 p.p. abaixo da média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42B"/>
                </a:solidFill>
              </a:rPr>
              <a:t>Decisões que o painel ajuda a tomar</a:t>
            </a:r>
            <a:endParaRPr lang="en-US" sz="2600" dirty="0"/>
          </a:p>
        </p:txBody>
      </p:sp>
      <p:graphicFrame>
        <p:nvGraphicFramePr>
          <p:cNvPr id="5" name="Tabela decisõ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2468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Pergunta gerencial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Sinal no painel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Exemplo na base fictícia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 concentrar o acompanhamento do mês?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Ranking de atingimento, gap por parceiro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Ingá, Cambará e Pitanga somam 48% dos gaps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 forecast revisar antes do fechamento?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Viés histórico &gt; 25% e lastro M+1 &lt; 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parceiros sinalizados para revisão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um parceiro caiu?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Queda de 3 meses e variação da criação de oportunidades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Ingá: originação. Manacá: conversão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destravar esta semana?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Paradas, vencidas e com pendência, por kWp ponderado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 oportunidades, 4.200 kWp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proteger até a assinatura?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Negociações sem risco com previsão para o próximo mês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 negociações, 1.485 kWp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6C"/>
                </a:solidFill>
              </a:rPr>
              <a:t>O painel organiza a informação para a decisão; ele não mede o efeito das ações tomadas.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Números conferidos, limites declarados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B38E"/>
                </a:solidFill>
              </a:rPr>
              <a:t>47/47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D2"/>
                </a:solidFill>
              </a:rPr>
              <a:t>testes de integridade da base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B38E"/>
                </a:solidFill>
              </a:rPr>
              <a:t>1.163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D2"/>
                </a:solidFill>
              </a:rPr>
              <a:t>valores do motor iguais ao recálculo Python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B38E"/>
                </a:solidFill>
              </a:rPr>
              <a:t>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D2"/>
                </a:solidFill>
              </a:rPr>
              <a:t>cenários conferidos na tela renderizada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D3C"/>
                </a:solidFill>
              </a:rPr>
              <a:t>Limitações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50876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EEA"/>
                </a:solidFill>
              </a:rPr>
              <a:t>Dados simulados, com situações embutidas para demonstração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EEA"/>
                </a:solidFill>
              </a:rPr>
              <a:t>Conversão por coorte subestima coortes recentes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EEA"/>
                </a:solidFill>
              </a:rPr>
              <a:t>Probabilidades por etapa iguais para todo o canal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EEA"/>
                </a:solidFill>
              </a:rPr>
              <a:t>Pipeline é uma foto: sem histórico de etapas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EEA"/>
                </a:solidFill>
              </a:rPr>
              <a:t>Volume em kWp, sem receita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38E"/>
                </a:solidFill>
              </a:rPr>
              <a:t>Próxima versão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50876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EEA"/>
                </a:solidFill>
              </a:rPr>
              <a:t>Histórico de etapas para medir ciclo e acurácia do pipeline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EEA"/>
                </a:solidFill>
              </a:rPr>
              <a:t>Probabilidades por parceiro e segmento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EEA"/>
                </a:solidFill>
              </a:rPr>
              <a:t>Forecast em faixa: pessimista, provável, otimista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5EEEA"/>
                </a:solidFill>
              </a:rPr>
              <a:t>Registro de ações por alerta para medir efeito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0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ckpit Comercial">
  <a:themeElements>
    <a:clrScheme name="Cockpit Comercial">
      <a:dk1>
        <a:srgbClr val="15242B"/>
      </a:dk1>
      <a:lt1>
        <a:srgbClr val="FFFFFF"/>
      </a:lt1>
      <a:dk2>
        <a:srgbClr val="56676C"/>
      </a:dk2>
      <a:lt2>
        <a:srgbClr val="EEF2F0"/>
      </a:lt2>
      <a:accent1>
        <a:srgbClr val="1D6B54"/>
      </a:accent1>
      <a:accent2>
        <a:srgbClr val="B97C00"/>
      </a:accent2>
      <a:accent3>
        <a:srgbClr val="B23B26"/>
      </a:accent3>
      <a:accent4>
        <a:srgbClr val="D5E8E0"/>
      </a:accent4>
      <a:accent5>
        <a:srgbClr val="F6E7C4"/>
      </a:accent5>
      <a:accent6>
        <a:srgbClr val="93A29E"/>
      </a:accent6>
      <a:hlink>
        <a:srgbClr val="1D6B54"/>
      </a:hlink>
      <a:folHlink>
        <a:srgbClr val="56676C"/>
      </a:folHlink>
    </a:clrScheme>
    <a:fontScheme name="Cockpit Comerc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Cockpit de performance comercial (dados fictícios)</dc:title>
  <dc:subject>PptxGenJS Presentation</dc:subject>
  <dc:creator>Projeto de portfólio</dc:creator>
  <cp:lastModifiedBy>Projeto de portfólio</cp:lastModifiedBy>
  <cp:revision>1</cp:revision>
  <dcterms:created xsi:type="dcterms:W3CDTF">2026-10-14T14:26:04Z</dcterms:created>
  <dcterms:modified xsi:type="dcterms:W3CDTF">2026-10-14T14:26:04Z</dcterms:modified>
</cp:coreProperties>
</file>